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65" r:id="rId3"/>
    <p:sldId id="259" r:id="rId4"/>
    <p:sldId id="266" r:id="rId5"/>
    <p:sldId id="267" r:id="rId6"/>
    <p:sldId id="261" r:id="rId7"/>
    <p:sldId id="260" r:id="rId8"/>
    <p:sldId id="262" r:id="rId9"/>
    <p:sldId id="264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67" autoAdjust="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9B1DF-2AC0-4BBB-9CA6-CE1BF7E238F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697D4-B1E4-42B3-9F8F-1A352C100D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79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Dataset was too small. Results were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697D4-B1E4-42B3-9F8F-1A352C100D1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196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697D4-B1E4-42B3-9F8F-1A352C100D1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20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44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93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29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6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898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0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50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2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94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90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18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FFB04A-1809-477F-BFE8-F28B63AD259D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900FF4-0D97-4A51-AE0E-AEEDC5C9516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950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2F19-132E-37FC-7593-34CE1E891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lv-LV" noProof="0" dirty="0"/>
              <a:t>Latviešu viltus ziņu (</a:t>
            </a:r>
            <a:r>
              <a:rPr lang="lv-LV" noProof="0" dirty="0" err="1"/>
              <a:t>clickbait</a:t>
            </a:r>
            <a:r>
              <a:rPr lang="lv-LV" noProof="0" dirty="0"/>
              <a:t>) virsrakstu noteikšana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2D34D-E6CB-B30D-F912-5E461ABEA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v-LV" noProof="0" dirty="0"/>
              <a:t>Pēteris Doze</a:t>
            </a:r>
          </a:p>
        </p:txBody>
      </p:sp>
    </p:spTree>
    <p:extLst>
      <p:ext uri="{BB962C8B-B14F-4D97-AF65-F5344CB8AC3E}">
        <p14:creationId xmlns:p14="http://schemas.microsoft.com/office/powerpoint/2010/main" val="65745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F00A-123C-5FCF-64D7-4F5912A2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Problēma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9DD6-8A51-FF15-8A3D-9204C7B7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lv-LV" noProof="0" dirty="0"/>
              <a:t>Ziņu portāli izmanto emocionālus virsrakstus, lai piesaistītu uzmanību. </a:t>
            </a:r>
          </a:p>
          <a:p>
            <a:r>
              <a:rPr lang="lv-LV" noProof="0" dirty="0" err="1"/>
              <a:t>Clickbait</a:t>
            </a:r>
            <a:r>
              <a:rPr lang="lv-LV" noProof="0" dirty="0"/>
              <a:t> var: </a:t>
            </a:r>
          </a:p>
          <a:p>
            <a:pPr lvl="1"/>
            <a:r>
              <a:rPr lang="lv-LV" noProof="0" dirty="0"/>
              <a:t>pārspīlēt informāciju, </a:t>
            </a:r>
          </a:p>
          <a:p>
            <a:pPr lvl="1"/>
            <a:r>
              <a:rPr lang="lv-LV" noProof="0" dirty="0"/>
              <a:t>radīt maldīgu priekšstatu par saturu, </a:t>
            </a:r>
          </a:p>
          <a:p>
            <a:pPr lvl="1"/>
            <a:r>
              <a:rPr lang="lv-LV" noProof="0" dirty="0"/>
              <a:t>ietekmēt lietotāju informācijas izvēli. </a:t>
            </a:r>
          </a:p>
          <a:p>
            <a:r>
              <a:rPr lang="lv-LV" b="1" noProof="0" dirty="0"/>
              <a:t>Mērķis</a:t>
            </a:r>
          </a:p>
          <a:p>
            <a:r>
              <a:rPr lang="lv-LV" noProof="0" dirty="0"/>
              <a:t>Izveidot modeli, kas automātiski klasificē latviešu ziņu virsrakstus:</a:t>
            </a:r>
          </a:p>
          <a:p>
            <a:pPr marL="0" indent="0">
              <a:buNone/>
            </a:pPr>
            <a:r>
              <a:rPr lang="lv-LV" noProof="0" dirty="0"/>
              <a:t>0 — neitrāls virsraksts</a:t>
            </a:r>
            <a:br>
              <a:rPr lang="lv-LV" noProof="0" dirty="0"/>
            </a:br>
            <a:r>
              <a:rPr lang="lv-LV" noProof="0" dirty="0"/>
              <a:t>1 — emocionāls virsraksts</a:t>
            </a:r>
            <a:br>
              <a:rPr lang="lv-LV" noProof="0" dirty="0"/>
            </a:br>
            <a:r>
              <a:rPr lang="lv-LV" noProof="0" dirty="0"/>
              <a:t>2 — spēcīga </a:t>
            </a:r>
            <a:r>
              <a:rPr lang="lv-LV" noProof="0" dirty="0" err="1"/>
              <a:t>klikšķēsma</a:t>
            </a:r>
            <a:endParaRPr lang="lv-LV" noProof="0" dirty="0"/>
          </a:p>
          <a:p>
            <a:endParaRPr lang="lv-LV" noProof="0" dirty="0"/>
          </a:p>
        </p:txBody>
      </p:sp>
    </p:spTree>
    <p:extLst>
      <p:ext uri="{BB962C8B-B14F-4D97-AF65-F5344CB8AC3E}">
        <p14:creationId xmlns:p14="http://schemas.microsoft.com/office/powerpoint/2010/main" val="60009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63D6-0E2C-7FB4-80E2-AF835571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 err="1"/>
              <a:t>Clickbait</a:t>
            </a:r>
            <a:endParaRPr lang="lv-LV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15351-319B-17FA-D6DA-3A5610AAA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noProof="0" dirty="0"/>
              <a:t>Maldinoša/emocionāla valoda</a:t>
            </a:r>
          </a:p>
          <a:p>
            <a:r>
              <a:rPr lang="lv-LV" noProof="0" dirty="0"/>
              <a:t>Dobeles novadā kravas auto šoferis mēģina izvairīties no soda ar 50 eiro kukuli</a:t>
            </a:r>
          </a:p>
          <a:p>
            <a:pPr marL="0" indent="0">
              <a:buNone/>
            </a:pPr>
            <a:r>
              <a:rPr lang="lv-LV" noProof="0" dirty="0"/>
              <a:t>Sensāciju raksti</a:t>
            </a:r>
          </a:p>
          <a:p>
            <a:r>
              <a:rPr lang="lv-LV" noProof="0" dirty="0"/>
              <a:t>Cik daudz tu zini par Latgali un saproti latgaliski?</a:t>
            </a:r>
          </a:p>
        </p:txBody>
      </p:sp>
    </p:spTree>
    <p:extLst>
      <p:ext uri="{BB962C8B-B14F-4D97-AF65-F5344CB8AC3E}">
        <p14:creationId xmlns:p14="http://schemas.microsoft.com/office/powerpoint/2010/main" val="427873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A50A-3505-7E3A-A884-DE3B6B8C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 err="1"/>
              <a:t>Clickbait</a:t>
            </a:r>
            <a:r>
              <a:rPr lang="lv-LV" noProof="0" dirty="0"/>
              <a:t> noteikšana kā NLP uzdevums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CD69B-7D20-5B39-FB58-0075C799F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noProof="0" dirty="0"/>
              <a:t>Teksts</a:t>
            </a:r>
          </a:p>
          <a:p>
            <a:r>
              <a:rPr lang="lv-LV" noProof="0" dirty="0"/>
              <a:t>Teksta reprezentācija</a:t>
            </a:r>
          </a:p>
          <a:p>
            <a:r>
              <a:rPr lang="lv-LV" noProof="0" dirty="0"/>
              <a:t>Klasifikācijas modelis</a:t>
            </a:r>
          </a:p>
          <a:p>
            <a:r>
              <a:rPr lang="lv-LV" noProof="0" dirty="0"/>
              <a:t>Kategorijas</a:t>
            </a:r>
          </a:p>
        </p:txBody>
      </p:sp>
    </p:spTree>
    <p:extLst>
      <p:ext uri="{BB962C8B-B14F-4D97-AF65-F5344CB8AC3E}">
        <p14:creationId xmlns:p14="http://schemas.microsoft.com/office/powerpoint/2010/main" val="4537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0471-3E7D-0B77-51BC-E9AD40E3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Iepriekšējie pētījumi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3A4A1-12AE-61A9-7C9E-091EFF216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lv-LV" noProof="0" dirty="0" err="1"/>
              <a:t>Klikšķēsmas</a:t>
            </a:r>
            <a:r>
              <a:rPr lang="lv-LV" noProof="0" dirty="0"/>
              <a:t> noteikšana citās valodās:</a:t>
            </a:r>
          </a:p>
          <a:p>
            <a:r>
              <a:rPr lang="lv-LV" noProof="0" dirty="0"/>
              <a:t>Tradicionālās metodes: </a:t>
            </a:r>
          </a:p>
          <a:p>
            <a:pPr lvl="1"/>
            <a:r>
              <a:rPr lang="lv-LV" noProof="0" dirty="0" err="1"/>
              <a:t>Naive</a:t>
            </a:r>
            <a:r>
              <a:rPr lang="lv-LV" noProof="0" dirty="0"/>
              <a:t> </a:t>
            </a:r>
            <a:r>
              <a:rPr lang="lv-LV" noProof="0" dirty="0" err="1"/>
              <a:t>Bayes</a:t>
            </a:r>
            <a:r>
              <a:rPr lang="lv-LV" noProof="0" dirty="0"/>
              <a:t> </a:t>
            </a:r>
          </a:p>
          <a:p>
            <a:pPr lvl="1"/>
            <a:r>
              <a:rPr lang="lv-LV" noProof="0" dirty="0" err="1"/>
              <a:t>Logistic</a:t>
            </a:r>
            <a:r>
              <a:rPr lang="lv-LV" noProof="0" dirty="0"/>
              <a:t> </a:t>
            </a:r>
            <a:r>
              <a:rPr lang="lv-LV" noProof="0" dirty="0" err="1"/>
              <a:t>Regression</a:t>
            </a:r>
            <a:r>
              <a:rPr lang="lv-LV" noProof="0" dirty="0"/>
              <a:t> </a:t>
            </a:r>
          </a:p>
          <a:p>
            <a:pPr lvl="1"/>
            <a:r>
              <a:rPr lang="lv-LV" noProof="0" dirty="0" err="1"/>
              <a:t>Support</a:t>
            </a:r>
            <a:r>
              <a:rPr lang="lv-LV" noProof="0" dirty="0"/>
              <a:t> </a:t>
            </a:r>
            <a:r>
              <a:rPr lang="lv-LV" noProof="0" dirty="0" err="1"/>
              <a:t>Vector</a:t>
            </a:r>
            <a:r>
              <a:rPr lang="lv-LV" noProof="0" dirty="0"/>
              <a:t> Machines </a:t>
            </a:r>
          </a:p>
          <a:p>
            <a:pPr marL="0" indent="0">
              <a:buNone/>
            </a:pPr>
            <a:r>
              <a:rPr lang="lv-LV" noProof="0" dirty="0"/>
              <a:t>Mūsdienu pieejas:</a:t>
            </a:r>
          </a:p>
          <a:p>
            <a:pPr lvl="1"/>
            <a:r>
              <a:rPr lang="lv-LV" noProof="0" dirty="0"/>
              <a:t>neironu tīkli, </a:t>
            </a:r>
          </a:p>
          <a:p>
            <a:pPr lvl="1"/>
            <a:r>
              <a:rPr lang="lv-LV" noProof="0" dirty="0" err="1"/>
              <a:t>Transformer</a:t>
            </a:r>
            <a:r>
              <a:rPr lang="lv-LV" noProof="0" dirty="0"/>
              <a:t> modeļi, </a:t>
            </a:r>
          </a:p>
          <a:p>
            <a:pPr lvl="1"/>
            <a:r>
              <a:rPr lang="lv-LV" noProof="0" dirty="0"/>
              <a:t>BERT tipa modeļi. </a:t>
            </a:r>
          </a:p>
          <a:p>
            <a:pPr marL="0" indent="0">
              <a:buNone/>
            </a:pPr>
            <a:r>
              <a:rPr lang="lv-LV" noProof="0" dirty="0"/>
              <a:t>Latvijas situācija:</a:t>
            </a:r>
          </a:p>
          <a:p>
            <a:pPr lvl="1"/>
            <a:r>
              <a:rPr lang="lv-LV" noProof="0" dirty="0"/>
              <a:t>Mazāk datu un pētījumu nekā lielākām valodām. </a:t>
            </a:r>
          </a:p>
          <a:p>
            <a:pPr lvl="1"/>
            <a:r>
              <a:rPr lang="lv-LV" noProof="0" dirty="0"/>
              <a:t>Tāpēc šis projekts fokusējas uz latviešu virsrakstiem.</a:t>
            </a:r>
          </a:p>
        </p:txBody>
      </p:sp>
    </p:spTree>
    <p:extLst>
      <p:ext uri="{BB962C8B-B14F-4D97-AF65-F5344CB8AC3E}">
        <p14:creationId xmlns:p14="http://schemas.microsoft.com/office/powerpoint/2010/main" val="118017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D646-1109-C192-FBB2-2F2A38C4A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Pirms labošanas mazāka datu kopa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31883-AE8B-E7DD-8D3F-01DEC4A82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noProof="0" dirty="0" err="1"/>
              <a:t>Logistic</a:t>
            </a:r>
            <a:r>
              <a:rPr lang="lv-LV" noProof="0" dirty="0"/>
              <a:t> </a:t>
            </a:r>
            <a:r>
              <a:rPr lang="lv-LV" noProof="0" dirty="0" err="1"/>
              <a:t>Regression</a:t>
            </a:r>
            <a:endParaRPr lang="lv-LV" noProof="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90EC4B0-01F0-5BF0-BB13-F82ECAFBA6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11619" y="3269846"/>
            <a:ext cx="3909399" cy="200423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AC6CF-3AD6-9EE1-DC08-E991765C2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lv-LV" noProof="0" dirty="0" err="1"/>
              <a:t>Naive</a:t>
            </a:r>
            <a:r>
              <a:rPr lang="lv-LV" noProof="0" dirty="0"/>
              <a:t> </a:t>
            </a:r>
            <a:r>
              <a:rPr lang="lv-LV" noProof="0" dirty="0" err="1"/>
              <a:t>Bayes</a:t>
            </a:r>
            <a:endParaRPr lang="lv-LV" noProof="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8728965-18A2-F4EC-F0C1-A1C16283BF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770204" y="3258415"/>
            <a:ext cx="3833192" cy="20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6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8C21-3F09-7645-425F-2CC656F2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Pirms labošanas pilnā versija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EA72C-BFD0-B8BC-0A1A-0AC4D10A1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noProof="0" dirty="0" err="1"/>
              <a:t>Logistic</a:t>
            </a:r>
            <a:r>
              <a:rPr lang="lv-LV" noProof="0" dirty="0"/>
              <a:t> </a:t>
            </a:r>
            <a:r>
              <a:rPr lang="lv-LV" noProof="0" dirty="0" err="1"/>
              <a:t>Regression</a:t>
            </a:r>
            <a:endParaRPr lang="lv-LV" noProof="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70CE7C4-B389-BF84-B376-56223C60BB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49723" y="3273656"/>
            <a:ext cx="3833192" cy="199661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54FBA-D6E2-3661-8C78-1BB3560AF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lv-LV" noProof="0" dirty="0" err="1"/>
              <a:t>Naive</a:t>
            </a:r>
            <a:r>
              <a:rPr lang="lv-LV" noProof="0" dirty="0"/>
              <a:t> </a:t>
            </a:r>
            <a:r>
              <a:rPr lang="lv-LV" noProof="0" dirty="0" err="1"/>
              <a:t>Bayes</a:t>
            </a:r>
            <a:endParaRPr lang="lv-LV" noProof="0" dirty="0"/>
          </a:p>
        </p:txBody>
      </p:sp>
      <p:pic>
        <p:nvPicPr>
          <p:cNvPr id="8" name="Content Placeholder 18">
            <a:extLst>
              <a:ext uri="{FF2B5EF4-FFF2-40B4-BE49-F238E27FC236}">
                <a16:creationId xmlns:a16="http://schemas.microsoft.com/office/drawing/2014/main" id="{25F1ABCC-B0E0-EA9C-97DB-618877C76FB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770204" y="3254605"/>
            <a:ext cx="3833192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27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5EBE-12C3-87C2-BA77-146607B4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Pēc labošanas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F5D51-96A1-13A5-35E0-00EF95AEE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noProof="0" dirty="0" err="1"/>
              <a:t>Logistic</a:t>
            </a:r>
            <a:r>
              <a:rPr lang="lv-LV" noProof="0" dirty="0"/>
              <a:t> </a:t>
            </a:r>
            <a:r>
              <a:rPr lang="lv-LV" noProof="0" dirty="0" err="1"/>
              <a:t>Regression</a:t>
            </a:r>
            <a:endParaRPr lang="lv-LV" noProof="0" dirty="0"/>
          </a:p>
        </p:txBody>
      </p:sp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885513CC-186E-C57B-47BA-9083F0E09C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42102" y="2926916"/>
            <a:ext cx="3848433" cy="269009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EE001-7FD6-0D9F-9C4D-3B6B7D98C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lv-LV" noProof="0" dirty="0" err="1"/>
              <a:t>Naive</a:t>
            </a:r>
            <a:r>
              <a:rPr lang="lv-LV" noProof="0" dirty="0"/>
              <a:t> </a:t>
            </a:r>
            <a:r>
              <a:rPr lang="lv-LV" noProof="0" dirty="0" err="1"/>
              <a:t>Bayes</a:t>
            </a:r>
            <a:endParaRPr lang="lv-LV" noProof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0F013E-65AF-C8BB-1672-547A741733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16860" y="3102191"/>
            <a:ext cx="3939881" cy="23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1F8A44-D7E0-87A5-469E-CD2BA032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Uzlabotā versija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6444D5F-DAAA-D2E0-E51B-F0EA70CEF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8157" y="1846263"/>
            <a:ext cx="347601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1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EABE-6B40-6291-42FB-A17277E6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Ierobežojumi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D5F2-DD9B-9032-3B25-B34CA76B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noProof="0" dirty="0"/>
              <a:t>Maza datu kopa (1.6 tūkstoši virsraksti)</a:t>
            </a:r>
          </a:p>
          <a:p>
            <a:r>
              <a:rPr lang="lv-LV" noProof="0" dirty="0"/>
              <a:t>Tikai virsraksti analizēti</a:t>
            </a:r>
          </a:p>
          <a:p>
            <a:r>
              <a:rPr lang="lv-LV" noProof="0" dirty="0"/>
              <a:t>Mazs 2 tipa virsraksti (ap 100)</a:t>
            </a:r>
          </a:p>
        </p:txBody>
      </p:sp>
    </p:spTree>
    <p:extLst>
      <p:ext uri="{BB962C8B-B14F-4D97-AF65-F5344CB8AC3E}">
        <p14:creationId xmlns:p14="http://schemas.microsoft.com/office/powerpoint/2010/main" val="3974823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B2F7-1A49-1619-4322-E1E95F38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noProof="0" dirty="0"/>
              <a:t>Secinājumi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5B85-DAC3-B19E-0D0D-79947BBBA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156"/>
            <a:ext cx="10515600" cy="4351338"/>
          </a:xfrm>
        </p:spPr>
        <p:txBody>
          <a:bodyPr/>
          <a:lstStyle/>
          <a:p>
            <a:r>
              <a:rPr lang="lv-LV" noProof="0" dirty="0"/>
              <a:t>Izveidots NLP prototips latviešu virsrakstu analīzei.</a:t>
            </a:r>
          </a:p>
          <a:p>
            <a:r>
              <a:rPr lang="lv-LV" noProof="0" dirty="0"/>
              <a:t>Hierarhiska klasifikācija uzlabo atšķiršanu starp </a:t>
            </a:r>
            <a:r>
              <a:rPr lang="lv-LV" noProof="0" dirty="0" err="1"/>
              <a:t>klikšķēsmas</a:t>
            </a:r>
            <a:r>
              <a:rPr lang="lv-LV" noProof="0" dirty="0"/>
              <a:t> tipiem.</a:t>
            </a:r>
          </a:p>
          <a:p>
            <a:r>
              <a:rPr lang="lv-LV" noProof="0" dirty="0"/>
              <a:t>Lielāks un kvalitatīvāks datu kopums būtu galvenais uzlabojums nākotnē.</a:t>
            </a:r>
          </a:p>
        </p:txBody>
      </p:sp>
    </p:spTree>
    <p:extLst>
      <p:ext uri="{BB962C8B-B14F-4D97-AF65-F5344CB8AC3E}">
        <p14:creationId xmlns:p14="http://schemas.microsoft.com/office/powerpoint/2010/main" val="15027967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323</TotalTime>
  <Words>235</Words>
  <Application>Microsoft Office PowerPoint</Application>
  <PresentationFormat>Widescreen</PresentationFormat>
  <Paragraphs>55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Calibri</vt:lpstr>
      <vt:lpstr>Calibri Light</vt:lpstr>
      <vt:lpstr>Retrospect</vt:lpstr>
      <vt:lpstr>Latviešu viltus ziņu (clickbait) virsrakstu noteikšana</vt:lpstr>
      <vt:lpstr>Problēma</vt:lpstr>
      <vt:lpstr>Clickbait</vt:lpstr>
      <vt:lpstr>Clickbait noteikšana kā NLP uzdevums</vt:lpstr>
      <vt:lpstr>Iepriekšējie pētījumi</vt:lpstr>
      <vt:lpstr>Pirms labošanas mazāka datu kopa</vt:lpstr>
      <vt:lpstr>Pirms labošanas pilnā versija</vt:lpstr>
      <vt:lpstr>Pēc labošanas</vt:lpstr>
      <vt:lpstr>Uzlabotā versija</vt:lpstr>
      <vt:lpstr>Ierobežojumi</vt:lpstr>
      <vt:lpstr>Secinājumi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Peteris Doze</dc:creator>
  <cp:lastModifiedBy>Peteris Doze</cp:lastModifiedBy>
  <cp:revision>12</cp:revision>
  <dcterms:created xsi:type="dcterms:W3CDTF">2026-06-17T11:29:25Z</dcterms:created>
  <dcterms:modified xsi:type="dcterms:W3CDTF">2026-06-17T16:53:18Z</dcterms:modified>
</cp:coreProperties>
</file>